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4" r:id="rId6"/>
    <p:sldId id="260" r:id="rId7"/>
    <p:sldId id="261" r:id="rId8"/>
    <p:sldId id="265" r:id="rId9"/>
    <p:sldId id="263" r:id="rId10"/>
    <p:sldId id="266" r:id="rId11"/>
    <p:sldId id="267" r:id="rId12"/>
    <p:sldId id="268" r:id="rId13"/>
    <p:sldId id="262"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5" Type="http://schemas.openxmlformats.org/officeDocument/2006/relationships/hyperlink" Target="mailto:devadharshai13@gmail.com" TargetMode="Externa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478693" y="2286260"/>
            <a:ext cx="6935639" cy="954107"/>
          </a:xfrm>
          <a:prstGeom prst="rect">
            <a:avLst/>
          </a:prstGeom>
          <a:noFill/>
        </p:spPr>
        <p:txBody>
          <a:bodyPr wrap="square" rtlCol="0">
            <a:spAutoFit/>
          </a:bodyPr>
          <a:lstStyle/>
          <a:p>
            <a:pPr algn="r"/>
            <a:r>
              <a:rPr lang="en-US" sz="2800" b="1" dirty="0">
                <a:solidFill>
                  <a:schemeClr val="bg1"/>
                </a:solidFill>
                <a:latin typeface="Arial" panose="020B0604020202020204" pitchFamily="34" charset="0"/>
                <a:cs typeface="Arial" panose="020B0604020202020204" pitchFamily="34" charset="0"/>
              </a:rPr>
              <a:t>Smart Automate Irrigation Using Soil Moisture And Weather Data.</a:t>
            </a: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
        <p:nvSpPr>
          <p:cNvPr id="3" name="TextBox 2">
            <a:extLst>
              <a:ext uri="{FF2B5EF4-FFF2-40B4-BE49-F238E27FC236}">
                <a16:creationId xmlns:a16="http://schemas.microsoft.com/office/drawing/2014/main" id="{3623DCE0-E074-01B0-CDDA-C7A7BDEAD753}"/>
              </a:ext>
            </a:extLst>
          </p:cNvPr>
          <p:cNvSpPr txBox="1"/>
          <p:nvPr/>
        </p:nvSpPr>
        <p:spPr>
          <a:xfrm>
            <a:off x="5141167" y="3708400"/>
            <a:ext cx="5915609" cy="1816266"/>
          </a:xfrm>
          <a:prstGeom prst="rect">
            <a:avLst/>
          </a:prstGeom>
          <a:noFill/>
        </p:spPr>
        <p:txBody>
          <a:bodyPr wrap="square" rtlCol="0">
            <a:spAutoFit/>
          </a:bodyPr>
          <a:lstStyle/>
          <a:p>
            <a:r>
              <a:rPr lang="en-IN" dirty="0">
                <a:solidFill>
                  <a:schemeClr val="bg1"/>
                </a:solidFill>
              </a:rPr>
              <a:t>DEVADHARSHANI B</a:t>
            </a:r>
          </a:p>
          <a:p>
            <a:r>
              <a:rPr lang="en-IN" dirty="0">
                <a:solidFill>
                  <a:schemeClr val="bg1"/>
                </a:solidFill>
              </a:rPr>
              <a:t>AICTE Student ID: STU682020619f5641746935905 </a:t>
            </a:r>
          </a:p>
          <a:p>
            <a:r>
              <a:rPr lang="en-IN" dirty="0">
                <a:solidFill>
                  <a:schemeClr val="bg1"/>
                </a:solidFill>
              </a:rPr>
              <a:t>AICTE Internship ID: INTERNSHIP_1748923002683e727a876ea</a:t>
            </a:r>
          </a:p>
          <a:p>
            <a:r>
              <a:rPr lang="en-IN" dirty="0">
                <a:solidFill>
                  <a:schemeClr val="bg1"/>
                </a:solidFill>
              </a:rPr>
              <a:t>Email: </a:t>
            </a:r>
            <a:r>
              <a:rPr lang="en-IN" u="sng" dirty="0">
                <a:hlinkClick r:id="rId5"/>
              </a:rPr>
              <a:t>devadharshai13@gmail.com</a:t>
            </a:r>
            <a:endParaRPr lang="en-IN" dirty="0"/>
          </a:p>
          <a:p>
            <a:endParaRPr lang="en-IN" dirty="0"/>
          </a:p>
        </p:txBody>
      </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TextBox 7">
            <a:extLst>
              <a:ext uri="{FF2B5EF4-FFF2-40B4-BE49-F238E27FC236}">
                <a16:creationId xmlns:a16="http://schemas.microsoft.com/office/drawing/2014/main" id="{E0846A43-5B57-8868-0DD3-AF63B86B39A6}"/>
              </a:ext>
            </a:extLst>
          </p:cNvPr>
          <p:cNvSpPr txBox="1"/>
          <p:nvPr/>
        </p:nvSpPr>
        <p:spPr>
          <a:xfrm>
            <a:off x="345440" y="1452615"/>
            <a:ext cx="7100388" cy="4689489"/>
          </a:xfrm>
          <a:prstGeom prst="rect">
            <a:avLst/>
          </a:prstGeom>
          <a:noFill/>
        </p:spPr>
        <p:txBody>
          <a:bodyPr wrap="square" rtlCol="0">
            <a:spAutoFit/>
          </a:bodyPr>
          <a:lstStyle/>
          <a:p>
            <a:pPr marL="342900" indent="-342900">
              <a:buFont typeface="Wingdings" panose="05000000000000000000" pitchFamily="2" charset="2"/>
              <a:buChar char="ü"/>
            </a:pPr>
            <a:r>
              <a:rPr lang="en-US" sz="1800" dirty="0"/>
              <a:t>To understand how AI and machine learning can be applied in smart irrigation systems.</a:t>
            </a:r>
          </a:p>
          <a:p>
            <a:pPr marL="342900" indent="-342900">
              <a:buFont typeface="Wingdings" panose="05000000000000000000" pitchFamily="2" charset="2"/>
              <a:buChar char="ü"/>
            </a:pPr>
            <a:r>
              <a:rPr lang="en-US" sz="1800" dirty="0"/>
              <a:t>To learn how to clean and preprocess real sensor data effectively.</a:t>
            </a:r>
          </a:p>
          <a:p>
            <a:pPr marL="342900" indent="-342900">
              <a:buFont typeface="Wingdings" panose="05000000000000000000" pitchFamily="2" charset="2"/>
              <a:buChar char="ü"/>
            </a:pPr>
            <a:r>
              <a:rPr lang="en-US" sz="1800" dirty="0"/>
              <a:t>To apply feature scaling techniques using </a:t>
            </a:r>
            <a:r>
              <a:rPr lang="en-US" sz="1800" dirty="0" err="1"/>
              <a:t>MinMaxScaler</a:t>
            </a:r>
            <a:r>
              <a:rPr lang="en-US" sz="1800" dirty="0"/>
              <a:t>.</a:t>
            </a:r>
          </a:p>
          <a:p>
            <a:pPr marL="342900" indent="-342900">
              <a:buFont typeface="Wingdings" panose="05000000000000000000" pitchFamily="2" charset="2"/>
              <a:buChar char="ü"/>
            </a:pPr>
            <a:r>
              <a:rPr lang="en-US" sz="1800" dirty="0"/>
              <a:t>To implement a multi-output classification model using Random Forest.</a:t>
            </a:r>
          </a:p>
          <a:p>
            <a:pPr marL="342900" indent="-342900">
              <a:buFont typeface="Wingdings" panose="05000000000000000000" pitchFamily="2" charset="2"/>
              <a:buChar char="ü"/>
            </a:pPr>
            <a:r>
              <a:rPr lang="en-US" sz="1800" dirty="0"/>
              <a:t>To evaluate model performance using classification reports.</a:t>
            </a:r>
          </a:p>
          <a:p>
            <a:pPr marL="342900" indent="-342900">
              <a:buFont typeface="Wingdings" panose="05000000000000000000" pitchFamily="2" charset="2"/>
              <a:buChar char="ü"/>
            </a:pPr>
            <a:r>
              <a:rPr lang="en-US" sz="1800" dirty="0"/>
              <a:t>To visualize irrigation patterns and pump activity using matplotlib.</a:t>
            </a:r>
          </a:p>
          <a:p>
            <a:pPr marL="342900" indent="-342900">
              <a:buFont typeface="Wingdings" panose="05000000000000000000" pitchFamily="2" charset="2"/>
              <a:buChar char="ü"/>
            </a:pPr>
            <a:r>
              <a:rPr lang="en-US" sz="1800" dirty="0"/>
              <a:t>To save and load models using </a:t>
            </a:r>
            <a:r>
              <a:rPr lang="en-US" sz="1800" dirty="0" err="1"/>
              <a:t>joblib</a:t>
            </a:r>
            <a:r>
              <a:rPr lang="en-US" sz="1800" dirty="0"/>
              <a:t> for reuse.</a:t>
            </a:r>
          </a:p>
          <a:p>
            <a:pPr marL="342900" indent="-342900">
              <a:buFont typeface="Wingdings" panose="05000000000000000000" pitchFamily="2" charset="2"/>
              <a:buChar char="ü"/>
            </a:pPr>
            <a:r>
              <a:rPr lang="en-US" sz="1800" dirty="0"/>
              <a:t>To build an interactive prediction app using </a:t>
            </a:r>
            <a:r>
              <a:rPr lang="en-US" sz="1800" dirty="0" err="1"/>
              <a:t>Streamlit</a:t>
            </a:r>
            <a:r>
              <a:rPr lang="en-US" sz="1800" dirty="0"/>
              <a:t>.</a:t>
            </a:r>
          </a:p>
          <a:p>
            <a:pPr marL="342900" indent="-342900">
              <a:buFont typeface="Wingdings" panose="05000000000000000000" pitchFamily="2" charset="2"/>
              <a:buChar char="ü"/>
            </a:pPr>
            <a:r>
              <a:rPr lang="en-US" sz="1800" dirty="0"/>
              <a:t>To connect machine learning concepts with real-time decision-making in agriculture.</a:t>
            </a:r>
          </a:p>
          <a:p>
            <a:pPr marL="342900" indent="-342900">
              <a:buFont typeface="Wingdings" panose="05000000000000000000" pitchFamily="2" charset="2"/>
              <a:buChar char="ü"/>
            </a:pPr>
            <a:r>
              <a:rPr lang="en-US" sz="1800" dirty="0"/>
              <a:t>To improve overall confidence in developing and deploying data-driven projects.</a:t>
            </a:r>
            <a:endParaRPr lang="en-IN" sz="1800" dirty="0"/>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2" name="TextBox 1">
            <a:extLst>
              <a:ext uri="{FF2B5EF4-FFF2-40B4-BE49-F238E27FC236}">
                <a16:creationId xmlns:a16="http://schemas.microsoft.com/office/drawing/2014/main" id="{5B9684A1-AD3F-6312-096A-22D4962CD00F}"/>
              </a:ext>
            </a:extLst>
          </p:cNvPr>
          <p:cNvSpPr txBox="1"/>
          <p:nvPr/>
        </p:nvSpPr>
        <p:spPr>
          <a:xfrm>
            <a:off x="1166327" y="1675492"/>
            <a:ext cx="10786188" cy="4114844"/>
          </a:xfrm>
          <a:prstGeom prst="rect">
            <a:avLst/>
          </a:prstGeom>
          <a:noFill/>
        </p:spPr>
        <p:txBody>
          <a:bodyPr wrap="square" rtlCol="0">
            <a:spAutoFit/>
          </a:bodyPr>
          <a:lstStyle/>
          <a:p>
            <a:r>
              <a:rPr lang="en-IN" b="1" dirty="0"/>
              <a:t>Programming Language:  </a:t>
            </a:r>
          </a:p>
          <a:p>
            <a:r>
              <a:rPr lang="en-IN" dirty="0"/>
              <a:t>               Python(3.12.0)</a:t>
            </a:r>
          </a:p>
          <a:p>
            <a:r>
              <a:rPr lang="en-IN" b="1" dirty="0"/>
              <a:t>Development Environment:  </a:t>
            </a:r>
          </a:p>
          <a:p>
            <a:r>
              <a:rPr lang="en-IN" dirty="0"/>
              <a:t>               VS Code-</a:t>
            </a:r>
            <a:r>
              <a:rPr lang="en-IN" dirty="0" err="1"/>
              <a:t>Streamlit</a:t>
            </a:r>
            <a:endParaRPr lang="en-IN" dirty="0"/>
          </a:p>
          <a:p>
            <a:r>
              <a:rPr lang="en-US" b="1" dirty="0"/>
              <a:t>Machine Learning Algorithm: </a:t>
            </a:r>
          </a:p>
          <a:p>
            <a:r>
              <a:rPr lang="en-US" dirty="0"/>
              <a:t>               Random Forest Classifier  </a:t>
            </a:r>
          </a:p>
          <a:p>
            <a:r>
              <a:rPr lang="en-US" dirty="0"/>
              <a:t>               </a:t>
            </a:r>
            <a:r>
              <a:rPr lang="en-US" dirty="0" err="1"/>
              <a:t>MultiOutputClassifier</a:t>
            </a:r>
            <a:r>
              <a:rPr lang="en-US" dirty="0"/>
              <a:t> (for multiple outputs)</a:t>
            </a:r>
          </a:p>
          <a:p>
            <a:r>
              <a:rPr lang="en-IN" b="1" dirty="0"/>
              <a:t>Libraries Used: </a:t>
            </a:r>
          </a:p>
          <a:p>
            <a:pPr marL="342900" indent="-342900">
              <a:buFont typeface="Wingdings" panose="05000000000000000000" pitchFamily="2" charset="2"/>
              <a:buChar char="ü"/>
            </a:pPr>
            <a:r>
              <a:rPr lang="en-IN" dirty="0"/>
              <a:t>pandas – for data handling  </a:t>
            </a:r>
          </a:p>
          <a:p>
            <a:pPr marL="342900" indent="-342900">
              <a:buFont typeface="Wingdings" panose="05000000000000000000" pitchFamily="2" charset="2"/>
              <a:buChar char="ü"/>
            </a:pPr>
            <a:r>
              <a:rPr lang="en-IN" dirty="0" err="1"/>
              <a:t>numpy</a:t>
            </a:r>
            <a:r>
              <a:rPr lang="en-IN" dirty="0"/>
              <a:t> – for numerical operations  </a:t>
            </a:r>
          </a:p>
          <a:p>
            <a:pPr marL="342900" indent="-342900">
              <a:buFont typeface="Wingdings" panose="05000000000000000000" pitchFamily="2" charset="2"/>
              <a:buChar char="ü"/>
            </a:pPr>
            <a:r>
              <a:rPr lang="en-IN" dirty="0"/>
              <a:t>matplotlib – for data visualization  </a:t>
            </a:r>
          </a:p>
          <a:p>
            <a:pPr marL="342900" indent="-342900">
              <a:buFont typeface="Wingdings" panose="05000000000000000000" pitchFamily="2" charset="2"/>
              <a:buChar char="ü"/>
            </a:pPr>
            <a:r>
              <a:rPr lang="en-IN" dirty="0"/>
              <a:t>scikit-learn (</a:t>
            </a:r>
            <a:r>
              <a:rPr lang="en-IN" dirty="0" err="1"/>
              <a:t>sklearn</a:t>
            </a:r>
            <a:r>
              <a:rPr lang="en-IN" dirty="0"/>
              <a:t>) – for ML models and preprocessing  </a:t>
            </a:r>
          </a:p>
          <a:p>
            <a:pPr marL="342900" indent="-342900">
              <a:buFont typeface="Wingdings" panose="05000000000000000000" pitchFamily="2" charset="2"/>
              <a:buChar char="ü"/>
            </a:pPr>
            <a:r>
              <a:rPr lang="en-IN" dirty="0" err="1"/>
              <a:t>joblib</a:t>
            </a:r>
            <a:r>
              <a:rPr lang="en-IN" dirty="0"/>
              <a:t> – for saving the model  </a:t>
            </a:r>
          </a:p>
          <a:p>
            <a:pPr marL="342900" indent="-342900">
              <a:buFont typeface="Wingdings" panose="05000000000000000000" pitchFamily="2" charset="2"/>
              <a:buChar char="ü"/>
            </a:pPr>
            <a:r>
              <a:rPr lang="en-IN" dirty="0" err="1"/>
              <a:t>streamlit</a:t>
            </a:r>
            <a:r>
              <a:rPr lang="en-IN" dirty="0"/>
              <a:t> – for building the interactive web interface</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650912" y="815255"/>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241ADDD1-41EB-9460-0CFB-5E8AC8981583}"/>
              </a:ext>
            </a:extLst>
          </p:cNvPr>
          <p:cNvSpPr txBox="1"/>
          <p:nvPr/>
        </p:nvSpPr>
        <p:spPr>
          <a:xfrm>
            <a:off x="287694" y="1215365"/>
            <a:ext cx="11616611" cy="5642635"/>
          </a:xfrm>
          <a:prstGeom prst="rect">
            <a:avLst/>
          </a:prstGeom>
          <a:noFill/>
        </p:spPr>
        <p:txBody>
          <a:bodyPr wrap="square" rtlCol="0">
            <a:spAutoFit/>
          </a:bodyPr>
          <a:lstStyle/>
          <a:p>
            <a:r>
              <a:rPr lang="en-US" b="1" dirty="0"/>
              <a:t>Understanding the Problem Statement:</a:t>
            </a:r>
          </a:p>
          <a:p>
            <a:pPr marL="285750" indent="-285750">
              <a:buFont typeface="Arial" panose="020B0604020202020204" pitchFamily="34" charset="0"/>
              <a:buChar char="•"/>
            </a:pPr>
            <a:r>
              <a:rPr lang="en-US" sz="1800" dirty="0"/>
              <a:t>The aim was to automate sprinkler control using real-time sensor data from multiple regions (parcels) in a farm.</a:t>
            </a:r>
          </a:p>
          <a:p>
            <a:pPr marL="285750" indent="-285750">
              <a:buFont typeface="Arial" panose="020B0604020202020204" pitchFamily="34" charset="0"/>
              <a:buChar char="•"/>
            </a:pPr>
            <a:r>
              <a:rPr lang="en-US" sz="1800" dirty="0"/>
              <a:t>The system should decide whether to turn ON or OFF sprinklers based on environmental conditions sensed.</a:t>
            </a:r>
          </a:p>
          <a:p>
            <a:r>
              <a:rPr lang="en-IN" sz="1800" b="1" dirty="0"/>
              <a:t>Data Collection &amp; Inspection:</a:t>
            </a:r>
          </a:p>
          <a:p>
            <a:pPr marL="285750" indent="-285750">
              <a:buFont typeface="Arial" panose="020B0604020202020204" pitchFamily="34" charset="0"/>
              <a:buChar char="•"/>
            </a:pPr>
            <a:r>
              <a:rPr lang="en-IN" sz="1800" dirty="0"/>
              <a:t>A dataset containing *20 sensor readings* (e.g., temperature, humidity, soil moisture, etc.) and *3 binary labels* (parcel_0, parcel_1, parcel_2) was provided.</a:t>
            </a:r>
          </a:p>
          <a:p>
            <a:pPr marL="285750" indent="-285750">
              <a:buFont typeface="Arial" panose="020B0604020202020204" pitchFamily="34" charset="0"/>
              <a:buChar char="•"/>
            </a:pPr>
            <a:r>
              <a:rPr lang="en-IN" sz="1800" dirty="0"/>
              <a:t> Basic statistics and shape were </a:t>
            </a:r>
            <a:r>
              <a:rPr lang="en-IN" sz="1800" dirty="0" err="1"/>
              <a:t>analyzed</a:t>
            </a:r>
            <a:r>
              <a:rPr lang="en-IN" sz="1800" dirty="0"/>
              <a:t> to understand the structure and distribution of features and target variables</a:t>
            </a:r>
            <a:r>
              <a:rPr lang="en-IN" sz="1600" dirty="0"/>
              <a:t>.</a:t>
            </a:r>
          </a:p>
          <a:p>
            <a:r>
              <a:rPr lang="en-US" sz="1800" b="1" dirty="0"/>
              <a:t>Data Preprocessing:</a:t>
            </a:r>
          </a:p>
          <a:p>
            <a:pPr marL="285750" indent="-285750">
              <a:buFont typeface="Arial" panose="020B0604020202020204" pitchFamily="34" charset="0"/>
              <a:buChar char="•"/>
            </a:pPr>
            <a:r>
              <a:rPr lang="en-US" sz="1800" dirty="0"/>
              <a:t>Removed unnecessary columns like 'Unnamed: 0’.</a:t>
            </a:r>
          </a:p>
          <a:p>
            <a:pPr marL="285750" indent="-285750">
              <a:buFont typeface="Arial" panose="020B0604020202020204" pitchFamily="34" charset="0"/>
              <a:buChar char="•"/>
            </a:pPr>
            <a:r>
              <a:rPr lang="en-US" sz="1800" dirty="0"/>
              <a:t>Scaled the sensor data using *</a:t>
            </a:r>
            <a:r>
              <a:rPr lang="en-US" sz="1800" dirty="0" err="1"/>
              <a:t>MinMaxScaler</a:t>
            </a:r>
            <a:r>
              <a:rPr lang="en-US" sz="1800" dirty="0"/>
              <a:t>* to bring all values between 0 and 1 for consistent model performance.</a:t>
            </a:r>
          </a:p>
          <a:p>
            <a:pPr marL="285750" indent="-285750">
              <a:buFont typeface="Arial" panose="020B0604020202020204" pitchFamily="34" charset="0"/>
              <a:buChar char="•"/>
            </a:pPr>
            <a:r>
              <a:rPr lang="en-US" sz="1800" dirty="0"/>
              <a:t>Split the data into *training* and *testing sets* using an 80/20 ratio.</a:t>
            </a:r>
          </a:p>
          <a:p>
            <a:r>
              <a:rPr lang="en-IN" sz="1800" b="1" dirty="0"/>
              <a:t>Model Selection &amp; Training:</a:t>
            </a:r>
          </a:p>
          <a:p>
            <a:pPr marL="285750" indent="-285750">
              <a:buFont typeface="Arial" panose="020B0604020202020204" pitchFamily="34" charset="0"/>
              <a:buChar char="•"/>
            </a:pPr>
            <a:r>
              <a:rPr lang="en-IN" sz="1800" dirty="0"/>
              <a:t>Used *Random Forest Classifier* as the base model due to its robustness and accuracy in handling tabular data.</a:t>
            </a:r>
          </a:p>
          <a:p>
            <a:pPr marL="285750" indent="-285750">
              <a:buFont typeface="Arial" panose="020B0604020202020204" pitchFamily="34" charset="0"/>
              <a:buChar char="•"/>
            </a:pPr>
            <a:r>
              <a:rPr lang="en-IN" sz="1800" dirty="0"/>
              <a:t>Implemented *</a:t>
            </a:r>
            <a:r>
              <a:rPr lang="en-IN" sz="1800" dirty="0" err="1"/>
              <a:t>MultiOutputClassifier</a:t>
            </a:r>
            <a:r>
              <a:rPr lang="en-IN" sz="1800" dirty="0"/>
              <a:t>* to allow simultaneous prediction of the 3 sprinkler statuses.</a:t>
            </a:r>
          </a:p>
          <a:p>
            <a:pPr marL="285750" indent="-285750">
              <a:buFont typeface="Arial" panose="020B0604020202020204" pitchFamily="34" charset="0"/>
              <a:buChar char="•"/>
            </a:pPr>
            <a:r>
              <a:rPr lang="en-IN" sz="1800" dirty="0"/>
              <a:t>Tuned hyperparameters like </a:t>
            </a:r>
            <a:r>
              <a:rPr lang="en-IN" sz="1800" dirty="0" err="1"/>
              <a:t>n_estimators</a:t>
            </a:r>
            <a:r>
              <a:rPr lang="en-IN" sz="1800" dirty="0"/>
              <a:t>, </a:t>
            </a:r>
            <a:r>
              <a:rPr lang="en-IN" sz="1800" dirty="0" err="1"/>
              <a:t>max_depth</a:t>
            </a:r>
            <a:r>
              <a:rPr lang="en-IN" sz="1800" dirty="0"/>
              <a:t>, and </a:t>
            </a:r>
            <a:r>
              <a:rPr lang="en-IN" sz="1800" dirty="0" err="1"/>
              <a:t>min_samples_split</a:t>
            </a:r>
            <a:r>
              <a:rPr lang="en-IN" sz="1800" dirty="0"/>
              <a:t> to enhance model performance.</a:t>
            </a: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D0095-D78D-C8C2-4F7B-6E88E7EEEDB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9195EED-FA84-B6F6-FD43-DC6DA0BFE514}"/>
              </a:ext>
            </a:extLst>
          </p:cNvPr>
          <p:cNvSpPr txBox="1"/>
          <p:nvPr/>
        </p:nvSpPr>
        <p:spPr>
          <a:xfrm>
            <a:off x="594928" y="1005325"/>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5" name="TextBox 4">
            <a:extLst>
              <a:ext uri="{FF2B5EF4-FFF2-40B4-BE49-F238E27FC236}">
                <a16:creationId xmlns:a16="http://schemas.microsoft.com/office/drawing/2014/main" id="{1CAA4BCF-74B5-0C2F-D4C0-98FE8A48FF0C}"/>
              </a:ext>
            </a:extLst>
          </p:cNvPr>
          <p:cNvSpPr txBox="1"/>
          <p:nvPr/>
        </p:nvSpPr>
        <p:spPr>
          <a:xfrm>
            <a:off x="445639" y="1651519"/>
            <a:ext cx="10779088" cy="3139321"/>
          </a:xfrm>
          <a:prstGeom prst="rect">
            <a:avLst/>
          </a:prstGeom>
          <a:noFill/>
        </p:spPr>
        <p:txBody>
          <a:bodyPr wrap="square" rtlCol="0">
            <a:spAutoFit/>
          </a:bodyPr>
          <a:lstStyle/>
          <a:p>
            <a:r>
              <a:rPr lang="en-US" sz="1800" b="1" dirty="0"/>
              <a:t>Model Evaluation:</a:t>
            </a:r>
          </a:p>
          <a:p>
            <a:pPr marL="285750" indent="-285750">
              <a:buFont typeface="Arial" panose="020B0604020202020204" pitchFamily="34" charset="0"/>
              <a:buChar char="•"/>
            </a:pPr>
            <a:r>
              <a:rPr lang="en-US" sz="1800" dirty="0"/>
              <a:t>Tested the model on the unseen test set.</a:t>
            </a:r>
          </a:p>
          <a:p>
            <a:pPr marL="285750" indent="-285750">
              <a:buFont typeface="Arial" panose="020B0604020202020204" pitchFamily="34" charset="0"/>
              <a:buChar char="•"/>
            </a:pPr>
            <a:r>
              <a:rPr lang="en-US" sz="1800" dirty="0"/>
              <a:t>Evaluated using a *classification report* that included precision, recall, and F1-score for each sprinkler.</a:t>
            </a:r>
          </a:p>
          <a:p>
            <a:pPr marL="285750" indent="-285750">
              <a:buFont typeface="Arial" panose="020B0604020202020204" pitchFamily="34" charset="0"/>
              <a:buChar char="•"/>
            </a:pPr>
            <a:r>
              <a:rPr lang="en-US" sz="1800" dirty="0"/>
              <a:t>Visualized how the sprinklers responded over time using step plots.</a:t>
            </a:r>
          </a:p>
          <a:p>
            <a:r>
              <a:rPr lang="en-US" sz="1800" b="1" dirty="0"/>
              <a:t>Model Saving:</a:t>
            </a:r>
          </a:p>
          <a:p>
            <a:r>
              <a:rPr lang="en-US" sz="1800" dirty="0"/>
              <a:t> Saved the trained model and scaler using *</a:t>
            </a:r>
            <a:r>
              <a:rPr lang="en-US" sz="1800" dirty="0" err="1"/>
              <a:t>joblib</a:t>
            </a:r>
            <a:r>
              <a:rPr lang="en-US" sz="1800" dirty="0"/>
              <a:t>* into a .</a:t>
            </a:r>
            <a:r>
              <a:rPr lang="en-US" sz="1800" dirty="0" err="1"/>
              <a:t>pkl</a:t>
            </a:r>
            <a:r>
              <a:rPr lang="en-US" sz="1800" dirty="0"/>
              <a:t> file named </a:t>
            </a:r>
            <a:r>
              <a:rPr lang="en-US" sz="1800" dirty="0" err="1"/>
              <a:t>Farm_Irrigation_System.pkl</a:t>
            </a:r>
            <a:r>
              <a:rPr lang="en-US" sz="1800" dirty="0"/>
              <a:t>.</a:t>
            </a:r>
          </a:p>
          <a:p>
            <a:r>
              <a:rPr lang="en-US" sz="1800" b="1" dirty="0"/>
              <a:t>Web Application Deployment:</a:t>
            </a:r>
          </a:p>
          <a:p>
            <a:pPr marL="285750" indent="-285750">
              <a:buFont typeface="Arial" panose="020B0604020202020204" pitchFamily="34" charset="0"/>
              <a:buChar char="•"/>
            </a:pPr>
            <a:r>
              <a:rPr lang="en-US" sz="1800" dirty="0"/>
              <a:t>Developed a *</a:t>
            </a:r>
            <a:r>
              <a:rPr lang="en-US" sz="1800" dirty="0" err="1"/>
              <a:t>Streamlit</a:t>
            </a:r>
            <a:r>
              <a:rPr lang="en-US" sz="1800" dirty="0"/>
              <a:t> application* to make predictions using new sensor values entered by users.</a:t>
            </a:r>
          </a:p>
          <a:p>
            <a:pPr marL="285750" indent="-285750">
              <a:buFont typeface="Arial" panose="020B0604020202020204" pitchFamily="34" charset="0"/>
              <a:buChar char="•"/>
            </a:pPr>
            <a:r>
              <a:rPr lang="en-US" sz="1800" dirty="0"/>
              <a:t>Designed an interactive UI with sliders for all 20 sensors.</a:t>
            </a:r>
          </a:p>
          <a:p>
            <a:pPr marL="285750" indent="-285750">
              <a:buFont typeface="Arial" panose="020B0604020202020204" pitchFamily="34" charset="0"/>
              <a:buChar char="•"/>
            </a:pPr>
            <a:r>
              <a:rPr lang="en-US" sz="1800" dirty="0"/>
              <a:t>Displayed prediction results as ON/OFF status for each sprinkler.</a:t>
            </a:r>
            <a:endParaRPr lang="en-IN" sz="1800" dirty="0"/>
          </a:p>
        </p:txBody>
      </p:sp>
    </p:spTree>
    <p:extLst>
      <p:ext uri="{BB962C8B-B14F-4D97-AF65-F5344CB8AC3E}">
        <p14:creationId xmlns:p14="http://schemas.microsoft.com/office/powerpoint/2010/main" val="3384804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376402" y="1138388"/>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4" name="TextBox 3">
            <a:extLst>
              <a:ext uri="{FF2B5EF4-FFF2-40B4-BE49-F238E27FC236}">
                <a16:creationId xmlns:a16="http://schemas.microsoft.com/office/drawing/2014/main" id="{86BC2631-6875-0C25-45AF-13D6AE8085A4}"/>
              </a:ext>
            </a:extLst>
          </p:cNvPr>
          <p:cNvSpPr txBox="1"/>
          <p:nvPr/>
        </p:nvSpPr>
        <p:spPr>
          <a:xfrm>
            <a:off x="614265" y="1688841"/>
            <a:ext cx="10963470" cy="4402167"/>
          </a:xfrm>
          <a:prstGeom prst="rect">
            <a:avLst/>
          </a:prstGeom>
          <a:noFill/>
        </p:spPr>
        <p:txBody>
          <a:bodyPr wrap="square" rtlCol="0">
            <a:spAutoFit/>
          </a:bodyPr>
          <a:lstStyle/>
          <a:p>
            <a:r>
              <a:rPr lang="en-US" b="1" dirty="0"/>
              <a:t>1.Over-Irrigation:</a:t>
            </a:r>
          </a:p>
          <a:p>
            <a:r>
              <a:rPr lang="en-US" dirty="0"/>
              <a:t>           Excess water application can damage crops, cause root rot, and waste water resources.</a:t>
            </a:r>
          </a:p>
          <a:p>
            <a:r>
              <a:rPr lang="en-US" b="1" dirty="0"/>
              <a:t>2. Under-Irrigation:</a:t>
            </a:r>
          </a:p>
          <a:p>
            <a:r>
              <a:rPr lang="en-US" dirty="0"/>
              <a:t>           Insufficient water supply leads to poor plant growth, reduced yield, and crop stress.</a:t>
            </a:r>
          </a:p>
          <a:p>
            <a:r>
              <a:rPr lang="en-US" b="1" dirty="0"/>
              <a:t>3. Manual Dependency:</a:t>
            </a:r>
          </a:p>
          <a:p>
            <a:r>
              <a:rPr lang="en-US" dirty="0"/>
              <a:t>           Most traditional systems require manual operation, making them time-consuming and error-prone.</a:t>
            </a:r>
          </a:p>
          <a:p>
            <a:r>
              <a:rPr lang="en-US" b="1" dirty="0"/>
              <a:t>4. Uneven Water Distribution: </a:t>
            </a:r>
          </a:p>
          <a:p>
            <a:r>
              <a:rPr lang="en-US" dirty="0"/>
              <a:t>           Lack of automation causes irregular coverage, resulting in dry patches or water-logged areas.</a:t>
            </a:r>
          </a:p>
          <a:p>
            <a:r>
              <a:rPr lang="en-US" b="1" dirty="0"/>
              <a:t>5. Water Wastage:</a:t>
            </a:r>
          </a:p>
          <a:p>
            <a:r>
              <a:rPr lang="en-US" dirty="0"/>
              <a:t>           Continuous water supply without sensor-based control results in unnecessary usage, especially in regions facing water scarcity.</a:t>
            </a:r>
          </a:p>
          <a:p>
            <a:r>
              <a:rPr lang="en-US" b="1" dirty="0"/>
              <a:t>6. No Real-Time Decision Making:</a:t>
            </a:r>
          </a:p>
          <a:p>
            <a:r>
              <a:rPr lang="en-US" dirty="0"/>
              <a:t>           Without data-driven automation, irrigation systems can't adapt to weather or soil condition changes effectively.</a:t>
            </a:r>
            <a:endParaRPr lang="en-IN" dirty="0"/>
          </a:p>
        </p:txBody>
      </p:sp>
    </p:spTree>
    <p:extLst>
      <p:ext uri="{BB962C8B-B14F-4D97-AF65-F5344CB8AC3E}">
        <p14:creationId xmlns:p14="http://schemas.microsoft.com/office/powerpoint/2010/main" val="31965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348410" y="1045081"/>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TextBox 1">
            <a:extLst>
              <a:ext uri="{FF2B5EF4-FFF2-40B4-BE49-F238E27FC236}">
                <a16:creationId xmlns:a16="http://schemas.microsoft.com/office/drawing/2014/main" id="{356D2CD5-FA73-998B-1D3A-9496D7A7D302}"/>
              </a:ext>
            </a:extLst>
          </p:cNvPr>
          <p:cNvSpPr txBox="1"/>
          <p:nvPr/>
        </p:nvSpPr>
        <p:spPr>
          <a:xfrm>
            <a:off x="858417" y="1660850"/>
            <a:ext cx="10105053" cy="4278287"/>
          </a:xfrm>
          <a:prstGeom prst="rect">
            <a:avLst/>
          </a:prstGeom>
          <a:noFill/>
        </p:spPr>
        <p:txBody>
          <a:bodyPr wrap="square" rtlCol="0">
            <a:spAutoFit/>
          </a:bodyPr>
          <a:lstStyle/>
          <a:p>
            <a:r>
              <a:rPr lang="en-US" b="1" dirty="0"/>
              <a:t>1. Smart Decision Making with Machine Learning:</a:t>
            </a:r>
          </a:p>
          <a:p>
            <a:r>
              <a:rPr lang="en-US" dirty="0"/>
              <a:t>   </a:t>
            </a:r>
            <a:r>
              <a:rPr lang="en-US" sz="1600" dirty="0"/>
              <a:t>        </a:t>
            </a:r>
            <a:r>
              <a:rPr lang="en-US" sz="1800" dirty="0"/>
              <a:t>By using a Random Forest Classifier and sensor data, the model predicts whether sprinklers (parcels) should be turned ON or OFF. This makes irrigation data-driven, removing guesswork and minimizing human errors in water application.</a:t>
            </a:r>
          </a:p>
          <a:p>
            <a:r>
              <a:rPr lang="en-US" b="1" dirty="0"/>
              <a:t>2.Avoids Over and Under-Irrigation:</a:t>
            </a:r>
            <a:endParaRPr lang="en-US" sz="1600" b="1" dirty="0"/>
          </a:p>
          <a:p>
            <a:r>
              <a:rPr lang="en-US" sz="1800" dirty="0"/>
              <a:t>         The trained model uses real-time sensor inputs (like soil moisture, humidity, temperature, etc.) to determine the right amount of water needed. This helps prevent overwatering (which causes root rot and waste) and underwatering(which stunts plant growth).</a:t>
            </a:r>
          </a:p>
          <a:p>
            <a:r>
              <a:rPr lang="en-US" sz="1800" b="1" dirty="0"/>
              <a:t>3.Automation of Sprinklers:</a:t>
            </a:r>
          </a:p>
          <a:p>
            <a:r>
              <a:rPr lang="en-US" sz="1600" dirty="0"/>
              <a:t>  </a:t>
            </a:r>
            <a:r>
              <a:rPr lang="en-US" sz="1800" dirty="0"/>
              <a:t>       Instead of manual irrigation, the system predicts when and where to irrigate using automated sprinkler control. This reduces manual labor, saves time, and ensures timely watering based on actual conditions.</a:t>
            </a:r>
          </a:p>
          <a:p>
            <a:r>
              <a:rPr lang="en-US" sz="1800" b="1" dirty="0"/>
              <a:t>4.Optimized Water Usage:</a:t>
            </a:r>
          </a:p>
          <a:p>
            <a:r>
              <a:rPr lang="en-US" sz="1600" dirty="0"/>
              <a:t>         </a:t>
            </a:r>
            <a:r>
              <a:rPr lang="en-US" sz="1800" dirty="0"/>
              <a:t>By activating sprinklers only when necessary, the system saves water. This leads to better water management, reduces groundwater depletion, and supports sustainable agriculture.</a:t>
            </a:r>
          </a:p>
        </p:txBody>
      </p:sp>
    </p:spTree>
    <p:extLst>
      <p:ext uri="{BB962C8B-B14F-4D97-AF65-F5344CB8AC3E}">
        <p14:creationId xmlns:p14="http://schemas.microsoft.com/office/powerpoint/2010/main" val="3002968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5330C-7CC4-1741-9A3B-18B3AE8CB6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9759364-FF71-E4AB-C062-863656BBCCD1}"/>
              </a:ext>
            </a:extLst>
          </p:cNvPr>
          <p:cNvSpPr txBox="1"/>
          <p:nvPr/>
        </p:nvSpPr>
        <p:spPr>
          <a:xfrm>
            <a:off x="348410" y="1045081"/>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TextBox 1">
            <a:extLst>
              <a:ext uri="{FF2B5EF4-FFF2-40B4-BE49-F238E27FC236}">
                <a16:creationId xmlns:a16="http://schemas.microsoft.com/office/drawing/2014/main" id="{7FDA4B52-2777-4855-CFE0-A2E1C74E36DB}"/>
              </a:ext>
            </a:extLst>
          </p:cNvPr>
          <p:cNvSpPr txBox="1"/>
          <p:nvPr/>
        </p:nvSpPr>
        <p:spPr>
          <a:xfrm>
            <a:off x="858417" y="1660850"/>
            <a:ext cx="10105053" cy="3170099"/>
          </a:xfrm>
          <a:prstGeom prst="rect">
            <a:avLst/>
          </a:prstGeom>
          <a:noFill/>
        </p:spPr>
        <p:txBody>
          <a:bodyPr wrap="square" rtlCol="0">
            <a:spAutoFit/>
          </a:bodyPr>
          <a:lstStyle/>
          <a:p>
            <a:r>
              <a:rPr lang="en-US" sz="2000" b="1" dirty="0"/>
              <a:t>5. Scalable and Adaptable:</a:t>
            </a:r>
          </a:p>
          <a:p>
            <a:r>
              <a:rPr lang="en-US" sz="1800" dirty="0"/>
              <a:t>           The solution is built to handle multiple sensor inputs and multiple farm zones (parcels). It can be easily extended to larger farms with more sensors, adapting to different crop types and soil needs.</a:t>
            </a:r>
          </a:p>
          <a:p>
            <a:r>
              <a:rPr lang="en-US" sz="1800" b="1" dirty="0"/>
              <a:t>6. Visualization for Monitoring:</a:t>
            </a:r>
          </a:p>
          <a:p>
            <a:r>
              <a:rPr lang="en-US" sz="1800" dirty="0"/>
              <a:t>           The project includes visualizations showing sprinkler activity over time. Farmers or researchers can use these plots to monitor trends and improve irrigation strategies, making it easy to interpret and trust the system’s decisions.</a:t>
            </a:r>
          </a:p>
          <a:p>
            <a:endParaRPr lang="en-US" sz="1800" dirty="0"/>
          </a:p>
          <a:p>
            <a:r>
              <a:rPr lang="en-US" sz="1800" b="1" dirty="0"/>
              <a:t>GIT LINK:</a:t>
            </a:r>
            <a:endParaRPr lang="en-IN" sz="1800" b="1" dirty="0"/>
          </a:p>
          <a:p>
            <a:endParaRPr lang="en-US" sz="1800" dirty="0"/>
          </a:p>
        </p:txBody>
      </p:sp>
    </p:spTree>
    <p:extLst>
      <p:ext uri="{BB962C8B-B14F-4D97-AF65-F5344CB8AC3E}">
        <p14:creationId xmlns:p14="http://schemas.microsoft.com/office/powerpoint/2010/main" val="2870901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4" name="Picture 3">
            <a:extLst>
              <a:ext uri="{FF2B5EF4-FFF2-40B4-BE49-F238E27FC236}">
                <a16:creationId xmlns:a16="http://schemas.microsoft.com/office/drawing/2014/main" id="{4547B849-2DAC-E95F-4B2E-AB0A276182A1}"/>
              </a:ext>
            </a:extLst>
          </p:cNvPr>
          <p:cNvPicPr>
            <a:picLocks noChangeAspect="1"/>
          </p:cNvPicPr>
          <p:nvPr/>
        </p:nvPicPr>
        <p:blipFill>
          <a:blip r:embed="rId2"/>
          <a:stretch>
            <a:fillRect/>
          </a:stretch>
        </p:blipFill>
        <p:spPr>
          <a:xfrm>
            <a:off x="867744" y="1601813"/>
            <a:ext cx="4683969" cy="2447673"/>
          </a:xfrm>
          <a:prstGeom prst="rect">
            <a:avLst/>
          </a:prstGeom>
        </p:spPr>
      </p:pic>
      <p:pic>
        <p:nvPicPr>
          <p:cNvPr id="6" name="Picture 5">
            <a:extLst>
              <a:ext uri="{FF2B5EF4-FFF2-40B4-BE49-F238E27FC236}">
                <a16:creationId xmlns:a16="http://schemas.microsoft.com/office/drawing/2014/main" id="{15F026A2-EBD6-2E1F-54C5-4295E7C6DE13}"/>
              </a:ext>
            </a:extLst>
          </p:cNvPr>
          <p:cNvPicPr>
            <a:picLocks noChangeAspect="1"/>
          </p:cNvPicPr>
          <p:nvPr/>
        </p:nvPicPr>
        <p:blipFill>
          <a:blip r:embed="rId3"/>
          <a:stretch>
            <a:fillRect/>
          </a:stretch>
        </p:blipFill>
        <p:spPr>
          <a:xfrm>
            <a:off x="395254" y="4338154"/>
            <a:ext cx="6892192" cy="1633438"/>
          </a:xfrm>
          <a:prstGeom prst="rect">
            <a:avLst/>
          </a:prstGeom>
        </p:spPr>
      </p:pic>
      <p:pic>
        <p:nvPicPr>
          <p:cNvPr id="8" name="Picture 7">
            <a:extLst>
              <a:ext uri="{FF2B5EF4-FFF2-40B4-BE49-F238E27FC236}">
                <a16:creationId xmlns:a16="http://schemas.microsoft.com/office/drawing/2014/main" id="{0354D4C6-4127-00A5-3E05-1A18A2F614AC}"/>
              </a:ext>
            </a:extLst>
          </p:cNvPr>
          <p:cNvPicPr>
            <a:picLocks noChangeAspect="1"/>
          </p:cNvPicPr>
          <p:nvPr/>
        </p:nvPicPr>
        <p:blipFill>
          <a:blip r:embed="rId4"/>
          <a:stretch>
            <a:fillRect/>
          </a:stretch>
        </p:blipFill>
        <p:spPr>
          <a:xfrm>
            <a:off x="7903029" y="1054412"/>
            <a:ext cx="3717027" cy="5053027"/>
          </a:xfrm>
          <a:prstGeom prst="rect">
            <a:avLst/>
          </a:prstGeom>
        </p:spPr>
      </p:pic>
      <p:sp>
        <p:nvSpPr>
          <p:cNvPr id="9" name="TextBox 8">
            <a:extLst>
              <a:ext uri="{FF2B5EF4-FFF2-40B4-BE49-F238E27FC236}">
                <a16:creationId xmlns:a16="http://schemas.microsoft.com/office/drawing/2014/main" id="{E2A58C42-647A-90D5-2144-087BA93D8D68}"/>
              </a:ext>
            </a:extLst>
          </p:cNvPr>
          <p:cNvSpPr txBox="1"/>
          <p:nvPr/>
        </p:nvSpPr>
        <p:spPr>
          <a:xfrm>
            <a:off x="7903029" y="6107439"/>
            <a:ext cx="4114800" cy="379656"/>
          </a:xfrm>
          <a:prstGeom prst="rect">
            <a:avLst/>
          </a:prstGeom>
          <a:noFill/>
        </p:spPr>
        <p:txBody>
          <a:bodyPr wrap="square" rtlCol="0">
            <a:spAutoFit/>
          </a:bodyPr>
          <a:lstStyle/>
          <a:p>
            <a:r>
              <a:rPr lang="en-IN" b="1" dirty="0"/>
              <a:t>Visualization of sprinkler activity</a:t>
            </a:r>
          </a:p>
        </p:txBody>
      </p:sp>
    </p:spTree>
    <p:extLst>
      <p:ext uri="{BB962C8B-B14F-4D97-AF65-F5344CB8AC3E}">
        <p14:creationId xmlns:p14="http://schemas.microsoft.com/office/powerpoint/2010/main" val="1635949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63111-191A-EF89-0CA9-E4E3502993B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C33E82-9524-E151-D352-63FB79F0CD50}"/>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5" name="Picture 4">
            <a:extLst>
              <a:ext uri="{FF2B5EF4-FFF2-40B4-BE49-F238E27FC236}">
                <a16:creationId xmlns:a16="http://schemas.microsoft.com/office/drawing/2014/main" id="{19044640-C6D7-F225-E71F-274B2D5EC15B}"/>
              </a:ext>
            </a:extLst>
          </p:cNvPr>
          <p:cNvPicPr>
            <a:picLocks noChangeAspect="1"/>
          </p:cNvPicPr>
          <p:nvPr/>
        </p:nvPicPr>
        <p:blipFill>
          <a:blip r:embed="rId2"/>
          <a:stretch>
            <a:fillRect/>
          </a:stretch>
        </p:blipFill>
        <p:spPr>
          <a:xfrm>
            <a:off x="798916" y="1566490"/>
            <a:ext cx="4445277" cy="2361698"/>
          </a:xfrm>
          <a:prstGeom prst="rect">
            <a:avLst/>
          </a:prstGeom>
        </p:spPr>
      </p:pic>
      <p:sp>
        <p:nvSpPr>
          <p:cNvPr id="6" name="TextBox 5">
            <a:extLst>
              <a:ext uri="{FF2B5EF4-FFF2-40B4-BE49-F238E27FC236}">
                <a16:creationId xmlns:a16="http://schemas.microsoft.com/office/drawing/2014/main" id="{1CFF7338-4774-7679-5434-530E7F326FD1}"/>
              </a:ext>
            </a:extLst>
          </p:cNvPr>
          <p:cNvSpPr txBox="1"/>
          <p:nvPr/>
        </p:nvSpPr>
        <p:spPr>
          <a:xfrm>
            <a:off x="867747" y="3928188"/>
            <a:ext cx="4376446" cy="338554"/>
          </a:xfrm>
          <a:prstGeom prst="rect">
            <a:avLst/>
          </a:prstGeom>
          <a:noFill/>
        </p:spPr>
        <p:txBody>
          <a:bodyPr wrap="square" rtlCol="0">
            <a:spAutoFit/>
          </a:bodyPr>
          <a:lstStyle/>
          <a:p>
            <a:r>
              <a:rPr lang="en-US" sz="1600" b="1" dirty="0"/>
              <a:t>Time-based visualization of pump activity</a:t>
            </a:r>
            <a:endParaRPr lang="en-IN" sz="1600" b="1" dirty="0"/>
          </a:p>
        </p:txBody>
      </p:sp>
      <p:pic>
        <p:nvPicPr>
          <p:cNvPr id="8" name="Picture 7">
            <a:extLst>
              <a:ext uri="{FF2B5EF4-FFF2-40B4-BE49-F238E27FC236}">
                <a16:creationId xmlns:a16="http://schemas.microsoft.com/office/drawing/2014/main" id="{B304D63E-F398-2A9E-A8E8-F3BE40160BC2}"/>
              </a:ext>
            </a:extLst>
          </p:cNvPr>
          <p:cNvPicPr>
            <a:picLocks noChangeAspect="1"/>
          </p:cNvPicPr>
          <p:nvPr/>
        </p:nvPicPr>
        <p:blipFill>
          <a:blip r:embed="rId3"/>
          <a:stretch>
            <a:fillRect/>
          </a:stretch>
        </p:blipFill>
        <p:spPr>
          <a:xfrm>
            <a:off x="5476688" y="1596513"/>
            <a:ext cx="3433664" cy="2331675"/>
          </a:xfrm>
          <a:prstGeom prst="rect">
            <a:avLst/>
          </a:prstGeom>
        </p:spPr>
      </p:pic>
      <p:sp>
        <p:nvSpPr>
          <p:cNvPr id="11" name="TextBox 10">
            <a:extLst>
              <a:ext uri="{FF2B5EF4-FFF2-40B4-BE49-F238E27FC236}">
                <a16:creationId xmlns:a16="http://schemas.microsoft.com/office/drawing/2014/main" id="{B9117E08-BD87-A713-21D4-DB3CF7158612}"/>
              </a:ext>
            </a:extLst>
          </p:cNvPr>
          <p:cNvSpPr txBox="1"/>
          <p:nvPr/>
        </p:nvSpPr>
        <p:spPr>
          <a:xfrm>
            <a:off x="6198877" y="4266742"/>
            <a:ext cx="4493772" cy="1692964"/>
          </a:xfrm>
          <a:prstGeom prst="rect">
            <a:avLst/>
          </a:prstGeom>
          <a:noFill/>
        </p:spPr>
        <p:txBody>
          <a:bodyPr wrap="square" rtlCol="0">
            <a:spAutoFit/>
          </a:bodyPr>
          <a:lstStyle/>
          <a:p>
            <a:r>
              <a:rPr lang="en-IN" dirty="0"/>
              <a:t>                                   </a:t>
            </a:r>
          </a:p>
          <a:p>
            <a:r>
              <a:rPr lang="en-IN" dirty="0"/>
              <a:t>                                    </a:t>
            </a:r>
          </a:p>
          <a:p>
            <a:endParaRPr lang="en-IN" dirty="0"/>
          </a:p>
          <a:p>
            <a:pPr algn="ctr"/>
            <a:r>
              <a:rPr lang="en-IN" sz="2400" dirty="0"/>
              <a:t>---&gt;   </a:t>
            </a:r>
            <a:r>
              <a:rPr lang="en-IN" dirty="0"/>
              <a:t>  </a:t>
            </a:r>
            <a:r>
              <a:rPr lang="en-US" sz="2400" b="1" dirty="0"/>
              <a:t>Before running the        Python code(App.py)</a:t>
            </a:r>
            <a:endParaRPr lang="en-IN" sz="2400" b="1" dirty="0"/>
          </a:p>
        </p:txBody>
      </p:sp>
      <p:sp>
        <p:nvSpPr>
          <p:cNvPr id="12" name="TextBox 11">
            <a:extLst>
              <a:ext uri="{FF2B5EF4-FFF2-40B4-BE49-F238E27FC236}">
                <a16:creationId xmlns:a16="http://schemas.microsoft.com/office/drawing/2014/main" id="{ACE8D20B-A3F6-4C07-8468-BD871FC3939B}"/>
              </a:ext>
            </a:extLst>
          </p:cNvPr>
          <p:cNvSpPr txBox="1"/>
          <p:nvPr/>
        </p:nvSpPr>
        <p:spPr>
          <a:xfrm rot="5400000">
            <a:off x="7862600" y="4759032"/>
            <a:ext cx="1446245" cy="461665"/>
          </a:xfrm>
          <a:prstGeom prst="rect">
            <a:avLst/>
          </a:prstGeom>
          <a:noFill/>
        </p:spPr>
        <p:txBody>
          <a:bodyPr wrap="square" rtlCol="0">
            <a:spAutoFit/>
          </a:bodyPr>
          <a:lstStyle/>
          <a:p>
            <a:r>
              <a:rPr lang="en-IN" sz="2400" b="1" dirty="0"/>
              <a:t>---&gt;</a:t>
            </a:r>
          </a:p>
        </p:txBody>
      </p:sp>
      <p:pic>
        <p:nvPicPr>
          <p:cNvPr id="14" name="Picture 13">
            <a:extLst>
              <a:ext uri="{FF2B5EF4-FFF2-40B4-BE49-F238E27FC236}">
                <a16:creationId xmlns:a16="http://schemas.microsoft.com/office/drawing/2014/main" id="{DF1C37FF-9AF7-9712-1DB5-606C5CEAF96D}"/>
              </a:ext>
            </a:extLst>
          </p:cNvPr>
          <p:cNvPicPr>
            <a:picLocks noChangeAspect="1"/>
          </p:cNvPicPr>
          <p:nvPr/>
        </p:nvPicPr>
        <p:blipFill>
          <a:blip r:embed="rId4"/>
          <a:stretch>
            <a:fillRect/>
          </a:stretch>
        </p:blipFill>
        <p:spPr>
          <a:xfrm>
            <a:off x="606489" y="4299289"/>
            <a:ext cx="4973217" cy="2329151"/>
          </a:xfrm>
          <a:prstGeom prst="rect">
            <a:avLst/>
          </a:prstGeom>
        </p:spPr>
      </p:pic>
      <p:pic>
        <p:nvPicPr>
          <p:cNvPr id="15" name="Picture 14">
            <a:extLst>
              <a:ext uri="{FF2B5EF4-FFF2-40B4-BE49-F238E27FC236}">
                <a16:creationId xmlns:a16="http://schemas.microsoft.com/office/drawing/2014/main" id="{7F84E42D-707B-1C52-E849-842A8E9CC292}"/>
              </a:ext>
            </a:extLst>
          </p:cNvPr>
          <p:cNvPicPr>
            <a:picLocks noChangeAspect="1"/>
          </p:cNvPicPr>
          <p:nvPr/>
        </p:nvPicPr>
        <p:blipFill>
          <a:blip r:embed="rId5"/>
          <a:stretch>
            <a:fillRect/>
          </a:stretch>
        </p:blipFill>
        <p:spPr>
          <a:xfrm>
            <a:off x="9010081" y="1596513"/>
            <a:ext cx="2969447" cy="2331675"/>
          </a:xfrm>
          <a:prstGeom prst="rect">
            <a:avLst/>
          </a:prstGeom>
        </p:spPr>
      </p:pic>
    </p:spTree>
    <p:extLst>
      <p:ext uri="{BB962C8B-B14F-4D97-AF65-F5344CB8AC3E}">
        <p14:creationId xmlns:p14="http://schemas.microsoft.com/office/powerpoint/2010/main" val="768279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944A2-D530-53AA-A1E7-2219B2B723D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3FA4E97-1119-A387-6668-D8D97690BF80}"/>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11" name="Picture 10">
            <a:extLst>
              <a:ext uri="{FF2B5EF4-FFF2-40B4-BE49-F238E27FC236}">
                <a16:creationId xmlns:a16="http://schemas.microsoft.com/office/drawing/2014/main" id="{C687A186-4263-7CF8-D457-EAE798160C37}"/>
              </a:ext>
            </a:extLst>
          </p:cNvPr>
          <p:cNvPicPr>
            <a:picLocks noChangeAspect="1"/>
          </p:cNvPicPr>
          <p:nvPr/>
        </p:nvPicPr>
        <p:blipFill>
          <a:blip r:embed="rId2"/>
          <a:stretch>
            <a:fillRect/>
          </a:stretch>
        </p:blipFill>
        <p:spPr>
          <a:xfrm>
            <a:off x="578498" y="1399199"/>
            <a:ext cx="4954556" cy="2627731"/>
          </a:xfrm>
          <a:prstGeom prst="rect">
            <a:avLst/>
          </a:prstGeom>
        </p:spPr>
      </p:pic>
      <p:pic>
        <p:nvPicPr>
          <p:cNvPr id="13" name="Picture 12">
            <a:extLst>
              <a:ext uri="{FF2B5EF4-FFF2-40B4-BE49-F238E27FC236}">
                <a16:creationId xmlns:a16="http://schemas.microsoft.com/office/drawing/2014/main" id="{D44EAAC8-4EAA-0449-AAC0-C5B31C3E1F63}"/>
              </a:ext>
            </a:extLst>
          </p:cNvPr>
          <p:cNvPicPr>
            <a:picLocks noChangeAspect="1"/>
          </p:cNvPicPr>
          <p:nvPr/>
        </p:nvPicPr>
        <p:blipFill>
          <a:blip r:embed="rId3"/>
          <a:stretch>
            <a:fillRect/>
          </a:stretch>
        </p:blipFill>
        <p:spPr>
          <a:xfrm>
            <a:off x="5925679" y="1319781"/>
            <a:ext cx="4960037" cy="2627731"/>
          </a:xfrm>
          <a:prstGeom prst="rect">
            <a:avLst/>
          </a:prstGeom>
        </p:spPr>
      </p:pic>
      <p:pic>
        <p:nvPicPr>
          <p:cNvPr id="15" name="Picture 14">
            <a:extLst>
              <a:ext uri="{FF2B5EF4-FFF2-40B4-BE49-F238E27FC236}">
                <a16:creationId xmlns:a16="http://schemas.microsoft.com/office/drawing/2014/main" id="{7821226E-B6CA-3B70-C750-9D9D6D0C2D55}"/>
              </a:ext>
            </a:extLst>
          </p:cNvPr>
          <p:cNvPicPr>
            <a:picLocks noChangeAspect="1"/>
          </p:cNvPicPr>
          <p:nvPr/>
        </p:nvPicPr>
        <p:blipFill>
          <a:blip r:embed="rId4"/>
          <a:stretch>
            <a:fillRect/>
          </a:stretch>
        </p:blipFill>
        <p:spPr>
          <a:xfrm>
            <a:off x="597041" y="4144935"/>
            <a:ext cx="4936013" cy="2627731"/>
          </a:xfrm>
          <a:prstGeom prst="rect">
            <a:avLst/>
          </a:prstGeom>
        </p:spPr>
      </p:pic>
      <p:sp>
        <p:nvSpPr>
          <p:cNvPr id="16" name="TextBox 15">
            <a:extLst>
              <a:ext uri="{FF2B5EF4-FFF2-40B4-BE49-F238E27FC236}">
                <a16:creationId xmlns:a16="http://schemas.microsoft.com/office/drawing/2014/main" id="{7F427951-84F6-CEEF-BA2D-62F9F873ADF1}"/>
              </a:ext>
            </a:extLst>
          </p:cNvPr>
          <p:cNvSpPr txBox="1"/>
          <p:nvPr/>
        </p:nvSpPr>
        <p:spPr>
          <a:xfrm>
            <a:off x="6357730" y="4441371"/>
            <a:ext cx="4419600" cy="1692964"/>
          </a:xfrm>
          <a:prstGeom prst="rect">
            <a:avLst/>
          </a:prstGeom>
          <a:noFill/>
        </p:spPr>
        <p:txBody>
          <a:bodyPr wrap="square" rtlCol="0">
            <a:spAutoFit/>
          </a:bodyPr>
          <a:lstStyle/>
          <a:p>
            <a:pPr algn="ctr"/>
            <a:r>
              <a:rPr lang="en-US" sz="2400" b="1" dirty="0"/>
              <a:t>Smart Farm Sprinkler Predictor</a:t>
            </a:r>
          </a:p>
          <a:p>
            <a:r>
              <a:rPr lang="en-US" dirty="0"/>
              <a:t>Adjust the 20 sensor inputs and check which sprinklers will turn ON/OFF</a:t>
            </a:r>
          </a:p>
          <a:p>
            <a:endParaRPr lang="en-IN" dirty="0"/>
          </a:p>
        </p:txBody>
      </p:sp>
    </p:spTree>
    <p:extLst>
      <p:ext uri="{BB962C8B-B14F-4D97-AF65-F5344CB8AC3E}">
        <p14:creationId xmlns:p14="http://schemas.microsoft.com/office/powerpoint/2010/main" val="3438109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DB9A7-0B78-896E-4A29-00456D1E928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8BE7E0-0C65-3E2D-1DFD-67C1EAF05DCA}"/>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8" name="Picture 7">
            <a:extLst>
              <a:ext uri="{FF2B5EF4-FFF2-40B4-BE49-F238E27FC236}">
                <a16:creationId xmlns:a16="http://schemas.microsoft.com/office/drawing/2014/main" id="{D1AA9279-FDE4-15F4-BD2C-358D41FFFECF}"/>
              </a:ext>
            </a:extLst>
          </p:cNvPr>
          <p:cNvPicPr>
            <a:picLocks noChangeAspect="1"/>
          </p:cNvPicPr>
          <p:nvPr/>
        </p:nvPicPr>
        <p:blipFill>
          <a:blip r:embed="rId2"/>
          <a:stretch>
            <a:fillRect/>
          </a:stretch>
        </p:blipFill>
        <p:spPr>
          <a:xfrm>
            <a:off x="527500" y="1541688"/>
            <a:ext cx="4947764" cy="2557641"/>
          </a:xfrm>
          <a:prstGeom prst="rect">
            <a:avLst/>
          </a:prstGeom>
        </p:spPr>
      </p:pic>
      <p:pic>
        <p:nvPicPr>
          <p:cNvPr id="10" name="Picture 9">
            <a:extLst>
              <a:ext uri="{FF2B5EF4-FFF2-40B4-BE49-F238E27FC236}">
                <a16:creationId xmlns:a16="http://schemas.microsoft.com/office/drawing/2014/main" id="{84044385-EB04-3A6C-5E4E-AE576C933B40}"/>
              </a:ext>
            </a:extLst>
          </p:cNvPr>
          <p:cNvPicPr>
            <a:picLocks noChangeAspect="1"/>
          </p:cNvPicPr>
          <p:nvPr/>
        </p:nvPicPr>
        <p:blipFill>
          <a:blip r:embed="rId3"/>
          <a:stretch>
            <a:fillRect/>
          </a:stretch>
        </p:blipFill>
        <p:spPr>
          <a:xfrm>
            <a:off x="6096000" y="1300538"/>
            <a:ext cx="5503186" cy="2441038"/>
          </a:xfrm>
          <a:prstGeom prst="rect">
            <a:avLst/>
          </a:prstGeom>
        </p:spPr>
      </p:pic>
      <p:pic>
        <p:nvPicPr>
          <p:cNvPr id="14" name="Picture 13">
            <a:extLst>
              <a:ext uri="{FF2B5EF4-FFF2-40B4-BE49-F238E27FC236}">
                <a16:creationId xmlns:a16="http://schemas.microsoft.com/office/drawing/2014/main" id="{78B235BE-D22E-0711-C2E0-C9F2F775F059}"/>
              </a:ext>
            </a:extLst>
          </p:cNvPr>
          <p:cNvPicPr>
            <a:picLocks noChangeAspect="1"/>
          </p:cNvPicPr>
          <p:nvPr/>
        </p:nvPicPr>
        <p:blipFill>
          <a:blip r:embed="rId4"/>
          <a:stretch>
            <a:fillRect/>
          </a:stretch>
        </p:blipFill>
        <p:spPr>
          <a:xfrm>
            <a:off x="592814" y="4186496"/>
            <a:ext cx="4947764" cy="2423560"/>
          </a:xfrm>
          <a:prstGeom prst="rect">
            <a:avLst/>
          </a:prstGeom>
        </p:spPr>
      </p:pic>
      <p:pic>
        <p:nvPicPr>
          <p:cNvPr id="18" name="Picture 17">
            <a:extLst>
              <a:ext uri="{FF2B5EF4-FFF2-40B4-BE49-F238E27FC236}">
                <a16:creationId xmlns:a16="http://schemas.microsoft.com/office/drawing/2014/main" id="{0EC6A506-726F-26F1-56FD-6AEED9F814B0}"/>
              </a:ext>
            </a:extLst>
          </p:cNvPr>
          <p:cNvPicPr>
            <a:picLocks noChangeAspect="1"/>
          </p:cNvPicPr>
          <p:nvPr/>
        </p:nvPicPr>
        <p:blipFill>
          <a:blip r:embed="rId5"/>
          <a:stretch>
            <a:fillRect/>
          </a:stretch>
        </p:blipFill>
        <p:spPr>
          <a:xfrm>
            <a:off x="6184640" y="3827493"/>
            <a:ext cx="5325905" cy="2539967"/>
          </a:xfrm>
          <a:prstGeom prst="rect">
            <a:avLst/>
          </a:prstGeom>
        </p:spPr>
      </p:pic>
      <p:sp>
        <p:nvSpPr>
          <p:cNvPr id="19" name="TextBox 18">
            <a:extLst>
              <a:ext uri="{FF2B5EF4-FFF2-40B4-BE49-F238E27FC236}">
                <a16:creationId xmlns:a16="http://schemas.microsoft.com/office/drawing/2014/main" id="{38855FC2-C826-80DE-D199-3A454A5FEDD2}"/>
              </a:ext>
            </a:extLst>
          </p:cNvPr>
          <p:cNvSpPr txBox="1"/>
          <p:nvPr/>
        </p:nvSpPr>
        <p:spPr>
          <a:xfrm>
            <a:off x="6651425" y="6367460"/>
            <a:ext cx="5053761" cy="379656"/>
          </a:xfrm>
          <a:prstGeom prst="rect">
            <a:avLst/>
          </a:prstGeom>
          <a:noFill/>
        </p:spPr>
        <p:txBody>
          <a:bodyPr wrap="square" rtlCol="0">
            <a:spAutoFit/>
          </a:bodyPr>
          <a:lstStyle/>
          <a:p>
            <a:r>
              <a:rPr lang="en-US" b="1" dirty="0"/>
              <a:t>Final prediction of the sprinkler system</a:t>
            </a:r>
            <a:endParaRPr lang="en-IN" dirty="0"/>
          </a:p>
        </p:txBody>
      </p:sp>
    </p:spTree>
    <p:extLst>
      <p:ext uri="{BB962C8B-B14F-4D97-AF65-F5344CB8AC3E}">
        <p14:creationId xmlns:p14="http://schemas.microsoft.com/office/powerpoint/2010/main" val="744586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7B8FFC3B-8AA0-B7EB-237E-59D9BE48F096}"/>
              </a:ext>
            </a:extLst>
          </p:cNvPr>
          <p:cNvSpPr txBox="1"/>
          <p:nvPr/>
        </p:nvSpPr>
        <p:spPr>
          <a:xfrm>
            <a:off x="569167" y="1531113"/>
            <a:ext cx="10823511" cy="4801314"/>
          </a:xfrm>
          <a:prstGeom prst="rect">
            <a:avLst/>
          </a:prstGeom>
          <a:noFill/>
        </p:spPr>
        <p:txBody>
          <a:bodyPr wrap="square" rtlCol="0">
            <a:spAutoFit/>
          </a:bodyPr>
          <a:lstStyle/>
          <a:p>
            <a:r>
              <a:rPr lang="en-US" sz="1600" dirty="0"/>
              <a:t>           This project successfully demonstrates a smart irrigation system that leverages real-time data and machine learning to optimize water usage across agricultural parcels. By analyzing environmental factors and automating sprinkler and pump activity, the system ensures efficient water management, reduces manual labor, and minimizes water wastage. Visualizations of pump and sprinkler activity further support the intelligent decision-making process of the model, highlighting its effectiveness in various operational scenarios.</a:t>
            </a:r>
          </a:p>
          <a:p>
            <a:r>
              <a:rPr lang="en-US" sz="1600" dirty="0"/>
              <a:t>            The project integrates powerful tools such as Python, machine learning algorithms, and </a:t>
            </a:r>
            <a:r>
              <a:rPr lang="en-US" sz="1600" dirty="0" err="1"/>
              <a:t>Streamlit</a:t>
            </a:r>
            <a:r>
              <a:rPr lang="en-US" sz="1600" dirty="0"/>
              <a:t> for an interactive user interface. The predictive model helps in accurately deciding irrigation needs, and the system adapts dynamically to environmental changes.</a:t>
            </a:r>
          </a:p>
          <a:p>
            <a:r>
              <a:rPr lang="en-US" sz="1800" b="1" dirty="0"/>
              <a:t>Future Scope:</a:t>
            </a:r>
          </a:p>
          <a:p>
            <a:r>
              <a:rPr lang="en-US" sz="1600" b="1" dirty="0"/>
              <a:t>1.IoT Integration: </a:t>
            </a:r>
            <a:r>
              <a:rPr lang="en-US" sz="1600" dirty="0"/>
              <a:t>Connecting sensors (for soil moisture, temperature, humidity) directly to the model for real-time updates.</a:t>
            </a:r>
          </a:p>
          <a:p>
            <a:r>
              <a:rPr lang="en-US" sz="1600" b="1" dirty="0"/>
              <a:t>2. Weather Forecast Integration: </a:t>
            </a:r>
            <a:r>
              <a:rPr lang="en-US" sz="1600" dirty="0"/>
              <a:t>Incorporating weather APIs to adjust irrigation based on upcoming rain or heat conditions.</a:t>
            </a:r>
          </a:p>
          <a:p>
            <a:r>
              <a:rPr lang="en-US" sz="1600" b="1" dirty="0"/>
              <a:t>3.Mobile App Interface: </a:t>
            </a:r>
            <a:r>
              <a:rPr lang="en-US" sz="1600" dirty="0"/>
              <a:t>Developing a mobile-based dashboard for farmers to monitor and control irrigation remotely.</a:t>
            </a:r>
          </a:p>
          <a:p>
            <a:r>
              <a:rPr lang="en-US" sz="1600" b="1" dirty="0"/>
              <a:t>4. Scalability to Larger Farms: </a:t>
            </a:r>
            <a:r>
              <a:rPr lang="en-US" sz="1600" dirty="0"/>
              <a:t>Adapting the system to manage irrigation in larger and more complex farmlands with multiple crop zones.</a:t>
            </a:r>
          </a:p>
          <a:p>
            <a:r>
              <a:rPr lang="en-US" sz="1600" b="1" dirty="0"/>
              <a:t>5. Energy </a:t>
            </a:r>
            <a:r>
              <a:rPr lang="en-US" sz="1600" b="1" dirty="0" err="1"/>
              <a:t>Optimization:</a:t>
            </a:r>
            <a:r>
              <a:rPr lang="en-US" sz="1600" dirty="0" err="1"/>
              <a:t>Adding</a:t>
            </a:r>
            <a:r>
              <a:rPr lang="en-US" sz="1600" dirty="0"/>
              <a:t> solar-powered pump controls and scheduling to save electricity.</a:t>
            </a:r>
          </a:p>
          <a:p>
            <a:r>
              <a:rPr lang="en-US" sz="1600" b="1" dirty="0"/>
              <a:t>6. Alert and Report System:   </a:t>
            </a:r>
            <a:r>
              <a:rPr lang="en-US" sz="1600" dirty="0"/>
              <a:t>Implementing SMS or app alerts for maintenance, pump failures, or irrigation anomalies.</a:t>
            </a:r>
            <a:endParaRPr lang="en-IN" sz="1600" dirty="0"/>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160</TotalTime>
  <Words>1278</Words>
  <Application>Microsoft Office PowerPoint</Application>
  <PresentationFormat>Widescreen</PresentationFormat>
  <Paragraphs>113</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Wingdings</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YAMINI M</cp:lastModifiedBy>
  <cp:revision>4</cp:revision>
  <dcterms:created xsi:type="dcterms:W3CDTF">2024-12-31T09:40:01Z</dcterms:created>
  <dcterms:modified xsi:type="dcterms:W3CDTF">2025-08-02T16:39:59Z</dcterms:modified>
</cp:coreProperties>
</file>